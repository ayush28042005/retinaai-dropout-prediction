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26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BE684-29FC-4D86-8666-2186EB417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00562-B70E-42D5-9D96-2F7B87B4C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E4B5D-9602-48F8-A91C-941DFC1E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C40E5-40EC-469D-A885-06EECD64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FC8B-8024-4447-A45D-0AF8922B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359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6D29-2B54-4FF0-8CB4-D1E2DB4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8807-61B4-41B1-A557-42839A8AD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B9BA8-1346-40E4-A1A7-A0E649B2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34A2-750B-4F26-B6C9-D1B500A3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F5ABA-668A-477D-8E61-56BEB588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8667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2F59-2A44-4CF0-B99C-5ECA552D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3668D-409B-41DE-A2DD-0F53C0A9F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C21BA-A4D0-409D-A39E-B61DE90F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B75A-FCA5-4E23-925D-BB0B44FB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1EC42-E61C-4788-9C97-5DACCD44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61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0337-FEEE-4B8B-A4A9-D04E1DE5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CFA4E-93B0-4C4F-ADE2-22E016B13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F9D7F-242D-4EF6-8D01-8FBBA8D24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586C4-0FCA-4DEC-B678-F44635E1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A958B-AC16-42E4-B76A-6230C213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9CAD7-641D-42A8-8E2D-6EE67E82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09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D9F-D8C0-425B-99C0-2254FE27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AC30-B793-4247-B471-6A6EAF97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E30AC-574A-44CA-BBD8-7B4426FF5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60E53-10EB-42BC-AE8B-8473BE2BF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FB1EE-E642-4D85-BD76-8F6FF0C96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8688E-D040-4384-8776-A0BFEEC3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74380-BB3C-407E-9D36-35B15D2C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DEC40-5216-46CB-AC12-3FB9540C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947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759E-D63C-476F-8EC4-F8460F53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CB225-E539-4328-9757-E583DB3B4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2B4C6-DB66-4291-B709-D6F45184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C8108-6EC5-4446-9B10-F398EAEB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083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4A2FE-1A55-4F5F-8C31-BE9F1B3F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89906-5930-4A0C-8818-9834E10E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9B978-B7C4-4222-83C6-1C997B18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63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4327-21D5-46CC-8CF9-795AC7ED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8878-31F9-4923-AAF5-D376A9C6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FB3AC-72F7-4A8A-8AF9-79A2349ED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B7FD7-7B7D-4D49-9494-D14C7834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D95D5-76AA-4F61-B2B5-67DF07FB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2B962-CDE1-4668-9A91-3A8A805D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552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570A-B84C-457E-86E7-38127D8A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A65CE-6FC3-4F7A-A604-3DAD194CC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81DE3-3236-40B7-9FA9-E0EC6ADE9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A34F2-6187-400E-8C0C-D58B4A5A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30BDB-41E3-4262-A343-99E65E3E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F0982-E038-41C2-B434-FB971975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423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DD06-C859-466C-A86E-2FAD6607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693A2-88D0-4875-A854-81513E52A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BB33-F137-42FC-8CC2-27E8F345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63CC7-0441-4A71-B5A9-A5A6AFD3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2D40-A0A6-4A3E-8AF7-06BD3312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371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A9A6A-FA06-468F-AA46-ADFDABF97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2AFEF-8B57-467B-BEB9-92F29A617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E475E-D584-4455-B501-6D1EE85C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ECACA-099E-4C76-B67B-1D7E29B1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4C1D3-E122-4BDE-B9AB-E6C5272F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002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73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FF2BE-8974-43F1-9FAC-8EFF7E1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7AAA5-EC1B-42E2-B978-10B6AE20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D9A23-9F1F-4369-97F0-2F41C6E5A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1D229-42EC-4D0E-930C-F227C5FE83C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9D6A9-C2C1-40BE-8DE8-1F7E60D7B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AB133-D261-494B-A3D1-51A13D894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64310-AC24-4B6B-8AA1-DE06F662A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1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426" y="1633664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002060"/>
                </a:solidFill>
                <a:ea typeface="Cambria" pitchFamily="34" charset="-122"/>
                <a:cs typeface="Times New Roman" panose="02020603050405020304" pitchFamily="18" charset="0"/>
              </a:rPr>
              <a:t>RetinaAI</a:t>
            </a:r>
            <a:endParaRPr lang="en-US" sz="96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27050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ea typeface="Calibri" pitchFamily="34" charset="-122"/>
                <a:cs typeface="Times New Roman" panose="02020603050405020304" pitchFamily="18" charset="0"/>
              </a:rPr>
              <a:t>Predicting</a:t>
            </a:r>
            <a:r>
              <a:rPr lang="en-US" sz="2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 Dropout Risk with Multimodal Machine Learning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8212" y="3822192"/>
            <a:ext cx="95545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[Tabular Academic Data  +  Attendance Time-Series  +  Counsellor Notes (NLP)]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78212" y="5486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Saini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 (AI &amp; ML)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dropout is a major challenge for educational institutions. Early indicators are often scattered across separate systems, which delays timely intervention.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each student into a dropout risk category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832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F4F6FB">
              <a:alpha val="79000"/>
            </a:srgbClr>
          </a:solidFill>
          <a:ln w="19050">
            <a:solidFill>
              <a:srgbClr val="002060"/>
            </a:solidFill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600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1945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proactive academic &amp; financial support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retention and graduation rates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counsellors a unified, data-driven signal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single-indicator guesswork with a holistic, multimodal 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000" dirty="0"/>
          </a:p>
        </p:txBody>
      </p:sp>
      <p:pic>
        <p:nvPicPr>
          <p:cNvPr id="3" name="Image 0" descr="/home/claude/RetinaAI-Dropout-Prediction/reports/workflow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084729"/>
            <a:ext cx="9235440" cy="57732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Data 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Academic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gender, hostel, family income, parent education, scholarship, part-time job, CGPA (sem 1-4), backlogs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Time-Series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attendance % per subject and semester — trend &amp; consistency signals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Notes (NLP)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observations from counsellors — keyword and category signals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164592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361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mean / std / min, CGPA trend (sem4 - sem1)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645920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5361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backlogs, backlog trend across semesters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023360"/>
            <a:ext cx="164592" cy="16459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136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Mean/std/min/max, per-semester &amp; per-subject means, trend slope (vectorized regression), recent-semester attendance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7490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4023360"/>
            <a:ext cx="164592" cy="164592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9136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Notes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note category, 10 binary keyword flags (stress, backlog, demotivated, financial, etc.)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000" dirty="0"/>
          </a:p>
        </p:txBody>
      </p:sp>
      <p:pic>
        <p:nvPicPr>
          <p:cNvPr id="3" name="Image 0" descr="/home/claude/RetinaAI-Dropout-Prediction/reports/architectur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142999"/>
            <a:ext cx="9235440" cy="57150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multiclass classifier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engineered features as input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3-class softmax (multi_logloss)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 leakage; preserves class balance per fold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held-out fold each round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F1?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classes are imbalanced (~60% Low, ~25% Medium, ~15% High). Accuracy alone can look good while ignoring the minority classes. Macro F1 weights all three classes equally, giving a fairer view of how well the model identifies Medium and High risk students.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(Train)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60%   </a:t>
            </a: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25%   </a:t>
            </a: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15%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188232"/>
            <a:ext cx="3291840" cy="1675107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rgbClr val="002060"/>
            </a:solidFill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76.53%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988330"/>
            <a:ext cx="3291840" cy="1303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7680" y="1165370"/>
            <a:ext cx="3291840" cy="1675107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rgbClr val="002060"/>
            </a:solidFill>
          </a:ln>
        </p:spPr>
      </p:sp>
      <p:sp>
        <p:nvSpPr>
          <p:cNvPr id="7" name="Text 5"/>
          <p:cNvSpPr/>
          <p:nvPr/>
        </p:nvSpPr>
        <p:spPr>
          <a:xfrm>
            <a:off x="4297680" y="1175099"/>
            <a:ext cx="3291840" cy="1568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0.7005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0" y="1988330"/>
            <a:ext cx="3291840" cy="1303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Score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863840" y="1175099"/>
            <a:ext cx="3291840" cy="1665378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rgbClr val="002060"/>
            </a:solidFill>
          </a:ln>
        </p:spPr>
      </p:sp>
      <p:sp>
        <p:nvSpPr>
          <p:cNvPr id="10" name="Text 8"/>
          <p:cNvSpPr/>
          <p:nvPr/>
        </p:nvSpPr>
        <p:spPr>
          <a:xfrm>
            <a:off x="7863840" y="1175099"/>
            <a:ext cx="3291840" cy="1568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3840" y="1988330"/>
            <a:ext cx="3291840" cy="1303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Folds</a:t>
            </a:r>
            <a:endParaRPr lang="en-US" sz="1400" dirty="0">
              <a:solidFill>
                <a:srgbClr val="002060"/>
              </a:solidFill>
            </a:endParaRPr>
          </a:p>
        </p:txBody>
      </p:sp>
      <p:pic>
        <p:nvPicPr>
          <p:cNvPr id="12" name="Image 0" descr="/home/claude/RetinaAI-Dropout-Prediction/reports/confu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122579"/>
            <a:ext cx="3931920" cy="3232501"/>
          </a:xfrm>
          <a:prstGeom prst="rect">
            <a:avLst/>
          </a:prstGeom>
        </p:spPr>
      </p:pic>
      <p:pic>
        <p:nvPicPr>
          <p:cNvPr id="13" name="Image 1" descr="/home/claude/RetinaAI-Dropout-Prediction/reports/feature_importan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47207" y="3059353"/>
            <a:ext cx="5120640" cy="34153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207491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trend and mean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 &amp; recent-semester attendance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backlogs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note keywords (stress, dropout mention)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income &amp; parent education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64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394960" cy="207491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Vectorizing attendance trend computation across ~15,000 students for speed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signal from a small set of repetitive counsellor note phrases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performance across all three imbalanced risk classes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validating the full pipeline within a strict one-hour deadline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19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190662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RetinaAI demonstrates that combining tabular academic data, attendance trends, and counsellor-note signals into a single LightGBM model produces a reliable, fast, and reproducible dropout risk classifier - achieving 76.5% accuracy and 0.70 macro F1 under a strict hackathon time constraint.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202375" y="1417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263640" y="1828800"/>
            <a:ext cx="5394960" cy="190662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embeddings for counsellor notes</a:t>
            </a:r>
            <a:endParaRPr lang="en-US" sz="135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sequence modeling on raw attendance series</a:t>
            </a:r>
            <a:endParaRPr lang="en-US" sz="135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with CatBoost / XGBoost</a:t>
            </a:r>
            <a:endParaRPr lang="en-US" sz="135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faculty/counsellor dashboard</a:t>
            </a:r>
            <a:endParaRPr lang="en-US" sz="1350" dirty="0">
              <a:solidFill>
                <a:srgbClr val="002060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 for institutional deployment</a:t>
            </a:r>
            <a:endParaRPr lang="en-US" sz="135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C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551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RetinaAI - Student Dropout Risk Prediction</dc:title>
  <dc:subject>PptxGenJS Presentation</dc:subject>
  <dc:creator>Ayush Saini</dc:creator>
  <cp:lastModifiedBy>AYUSH SAINI</cp:lastModifiedBy>
  <cp:revision>4</cp:revision>
  <dcterms:created xsi:type="dcterms:W3CDTF">2026-06-20T14:12:47Z</dcterms:created>
  <dcterms:modified xsi:type="dcterms:W3CDTF">2026-06-22T06:52:11Z</dcterms:modified>
</cp:coreProperties>
</file>